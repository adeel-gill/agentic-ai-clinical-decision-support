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uperio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9927" y="640080"/>
            <a:ext cx="3291840" cy="96112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724247" y="3063240"/>
            <a:ext cx="2743200" cy="38100"/>
          </a:xfrm>
          <a:prstGeom prst="rect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1036289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An Agentic AI Framework for Intelligent Patient Monitoring and Clinical Decision Support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93776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Adeel Gill</a:t>
            </a:r>
          </a:p>
          <a:p>
            <a:pPr algn="ctr">
              <a:spcAft>
                <a:spcPts val="200"/>
              </a:spcAft>
            </a:pPr>
            <a:r>
              <a:rPr sz="1500" b="0">
                <a:solidFill>
                  <a:srgbClr val="D9C7DD"/>
                </a:solidFill>
                <a:latin typeface="Calibri"/>
              </a:rPr>
              <a:t>MS Thesis Proposal Defense  •  Master of Science in Artificial Intelligence</a:t>
            </a:r>
          </a:p>
          <a:p>
            <a:pPr algn="ctr">
              <a:spcAft>
                <a:spcPts val="200"/>
              </a:spcAft>
            </a:pPr>
            <a:r>
              <a:rPr sz="1500" b="0">
                <a:solidFill>
                  <a:srgbClr val="D9C7DD"/>
                </a:solidFill>
                <a:latin typeface="Calibri"/>
              </a:rPr>
              <a:t>Supervisor: Dr. Fawad Nasim</a:t>
            </a:r>
          </a:p>
          <a:p>
            <a:pPr algn="ctr">
              <a:spcAft>
                <a:spcPts val="200"/>
              </a:spcAft>
            </a:pPr>
            <a:r>
              <a:rPr sz="1300" b="0">
                <a:solidFill>
                  <a:srgbClr val="D9C7DD"/>
                </a:solidFill>
                <a:latin typeface="Calibri"/>
              </a:rPr>
              <a:t>Faculty of Computer Science and Information Technology</a:t>
            </a:r>
          </a:p>
          <a:p>
            <a:pPr algn="ctr">
              <a:spcAft>
                <a:spcPts val="200"/>
              </a:spcAft>
            </a:pPr>
            <a:r>
              <a:rPr sz="1300" b="0">
                <a:solidFill>
                  <a:srgbClr val="D9C7DD"/>
                </a:solidFill>
                <a:latin typeface="Calibri"/>
              </a:rPr>
              <a:t>The Superior University, Lahore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01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00055" y="256032"/>
            <a:ext cx="1554480" cy="51019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uperio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1495" y="310896"/>
            <a:ext cx="1371600" cy="40046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109728"/>
            <a:ext cx="9814255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Background: Clinical Data Overload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91153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900">
                <a:solidFill>
                  <a:srgbClr val="2B2B2B"/>
                </a:solidFill>
                <a:latin typeface="Calibri"/>
              </a:rPr>
              <a:t>▸  Unprecedented data generation: continuous streams of vitals, labs, notes, and imaging.</a:t>
            </a:r>
          </a:p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900">
                <a:solidFill>
                  <a:srgbClr val="2B2B2B"/>
                </a:solidFill>
                <a:latin typeface="Calibri"/>
              </a:rPr>
              <a:t>▸  Cognitive bottleneck: data production outpaces manual interpretation under time pressure.</a:t>
            </a:r>
          </a:p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900">
                <a:solidFill>
                  <a:srgbClr val="2B2B2B"/>
                </a:solidFill>
                <a:latin typeface="Calibri"/>
              </a:rPr>
              <a:t>▸  The role of AI: reduce the cognitive load of synthesis, not replace clinician judgment.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806440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6B6B6B"/>
                </a:solidFill>
                <a:latin typeface="Calibri"/>
              </a:rPr>
              <a:t>Visual: ICU data streams funneling through a narrow bottleneck to a single clinician.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B6B6B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01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00055" y="256032"/>
            <a:ext cx="1554480" cy="51019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uperio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1495" y="310896"/>
            <a:ext cx="1371600" cy="40046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109728"/>
            <a:ext cx="9814255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Background: The Shift to Agentic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91153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900">
                <a:solidFill>
                  <a:srgbClr val="2B2B2B"/>
                </a:solidFill>
                <a:latin typeface="Calibri"/>
              </a:rPr>
              <a:t>▸  Passive LLMs: high fluency, but lack persistence, planning, and patient memory.</a:t>
            </a:r>
          </a:p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900">
                <a:solidFill>
                  <a:srgbClr val="2B2B2B"/>
                </a:solidFill>
                <a:latin typeface="Calibri"/>
              </a:rPr>
              <a:t>▸  Agentic AI: shifts models from passive responders to goal-directed systems.</a:t>
            </a:r>
          </a:p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900">
                <a:solidFill>
                  <a:srgbClr val="2B2B2B"/>
                </a:solidFill>
                <a:latin typeface="Calibri"/>
              </a:rPr>
              <a:t>▸  Core mechanisms: autonomous reasoning, tool use, memory management, environmental feedback.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806440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6B6B6B"/>
                </a:solidFill>
                <a:latin typeface="Calibri"/>
              </a:rPr>
              <a:t>Visual: Passive LLM (Prompt -&gt; Black Box -&gt; Response) vs. Agentic Loop (Perceive-Memory-Reason-Act).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B6B6B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01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00055" y="256032"/>
            <a:ext cx="1554480" cy="51019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uperio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1495" y="310896"/>
            <a:ext cx="1371600" cy="40046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109728"/>
            <a:ext cx="9814255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Problem Statement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91153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900">
                <a:solidFill>
                  <a:srgbClr val="2B2B2B"/>
                </a:solidFill>
                <a:latin typeface="Calibri"/>
              </a:rPr>
              <a:t>▸  Volume &amp; heterogeneity: reconciling diverse EHR data is slow and error-prone.</a:t>
            </a:r>
          </a:p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900">
                <a:solidFill>
                  <a:srgbClr val="2B2B2B"/>
                </a:solidFill>
                <a:latin typeface="Calibri"/>
              </a:rPr>
              <a:t>▸  LLM limitations: isolated tools lacking cross-step planning and durable patient models.</a:t>
            </a:r>
          </a:p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900">
                <a:solidFill>
                  <a:srgbClr val="2B2B2B"/>
                </a:solidFill>
                <a:latin typeface="Calibri"/>
              </a:rPr>
              <a:t>▸  CDSS deficits: high accuracy often lacks explainability, evidence retrieval, and long-term context.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806440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6B6B6B"/>
                </a:solidFill>
                <a:latin typeface="Calibri"/>
              </a:rPr>
              <a:t>Visual: Three crumbling pillars - Lack of Context, Opaque Reasoning, Fragmented Systems.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B6B6B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01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00055" y="256032"/>
            <a:ext cx="1554480" cy="51019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uperio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1495" y="310896"/>
            <a:ext cx="1371600" cy="40046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109728"/>
            <a:ext cx="9814255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Literature Review: Agentic Frameworks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91153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900">
                <a:solidFill>
                  <a:srgbClr val="2B2B2B"/>
                </a:solidFill>
                <a:latin typeface="Calibri"/>
              </a:rPr>
              <a:t>▸  ReAct: interleaves reasoning and acting, but lacks long-term memory.</a:t>
            </a:r>
          </a:p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900">
                <a:solidFill>
                  <a:srgbClr val="2B2B2B"/>
                </a:solidFill>
                <a:latin typeface="Calibri"/>
              </a:rPr>
              <a:t>▸  AutoGen &amp; CAMEL: enable multi-agent coordination and role-play, but struggle with communication loops.</a:t>
            </a:r>
          </a:p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900">
                <a:solidFill>
                  <a:srgbClr val="2B2B2B"/>
                </a:solidFill>
                <a:latin typeface="Calibri"/>
              </a:rPr>
              <a:t>▸  MetaGPT: enforces Standard Operating Procedures (SOPs), mirroring clinical protocols.</a:t>
            </a:r>
          </a:p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900">
                <a:solidFill>
                  <a:srgbClr val="2B2B2B"/>
                </a:solidFill>
                <a:latin typeface="Calibri"/>
              </a:rPr>
              <a:t>▸  Limitation: general-purpose designs lacking integrated clinical safety.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806440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6B6B6B"/>
                </a:solidFill>
                <a:latin typeface="Calibri"/>
              </a:rPr>
              <a:t>Visual: Comparison matrix - frameworks vs. clinical needs (Memory, SOPs, Oversight).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B6B6B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01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00055" y="256032"/>
            <a:ext cx="1554480" cy="51019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uperio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1495" y="310896"/>
            <a:ext cx="1371600" cy="40046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109728"/>
            <a:ext cx="9814255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Literature Review: RAG &amp; Healthcare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91153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900">
                <a:solidFill>
                  <a:srgbClr val="2B2B2B"/>
                </a:solidFill>
                <a:latin typeface="Calibri"/>
              </a:rPr>
              <a:t>▸  Medical LLMs (e.g., Med-PaLM): strong QA performance but lack external retrieval and memory.</a:t>
            </a:r>
          </a:p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900">
                <a:solidFill>
                  <a:srgbClr val="2B2B2B"/>
                </a:solidFill>
                <a:latin typeface="Calibri"/>
              </a:rPr>
              <a:t>▸  Retrieval-Augmented Generation (RAG): anchors reasoning to verifiable evidence, reducing hallucinations.</a:t>
            </a:r>
          </a:p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900">
                <a:solidFill>
                  <a:srgbClr val="2B2B2B"/>
                </a:solidFill>
                <a:latin typeface="Calibri"/>
              </a:rPr>
              <a:t>▸  Current state (e.g., MedRAG): improves specificity but focuses on isolated diagnostic snapshots.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806440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6B6B6B"/>
                </a:solidFill>
                <a:latin typeface="Calibri"/>
              </a:rPr>
              <a:t>Visual: Generator LLM fed by a Retriever over External Medical Knowledge + EHR Databases.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B6B6B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01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00055" y="256032"/>
            <a:ext cx="1554480" cy="51019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uperio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1495" y="310896"/>
            <a:ext cx="1371600" cy="40046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109728"/>
            <a:ext cx="9814255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Research Gap: The Limits of Current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91153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900">
                <a:solidFill>
                  <a:srgbClr val="2B2B2B"/>
                </a:solidFill>
                <a:latin typeface="Calibri"/>
              </a:rPr>
              <a:t>▸  Static evaluation: tested on isolated exams (e.g., MedQA) rather than real longitudinal trajectories.</a:t>
            </a:r>
          </a:p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900">
                <a:solidFill>
                  <a:srgbClr val="2B2B2B"/>
                </a:solidFill>
                <a:latin typeface="Calibri"/>
              </a:rPr>
              <a:t>▸  Generic retrieval: RAG grounds in general guidelines, missing the patient's specific evolving timeline.</a:t>
            </a:r>
          </a:p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900">
                <a:solidFill>
                  <a:srgbClr val="2B2B2B"/>
                </a:solidFill>
                <a:latin typeface="Calibri"/>
              </a:rPr>
              <a:t>▸  Omitted trustworthiness: verification and faithful audit trails are not first-class components.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806440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6B6B6B"/>
                </a:solidFill>
                <a:latin typeface="Calibri"/>
              </a:rPr>
              <a:t>Visual: Venn of Longitudinal ICU Evaluation, Patient-Timeline RAG, Faithful Auditability -&gt; The Missing Framework.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B6B6B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01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00055" y="256032"/>
            <a:ext cx="1554480" cy="51019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uperio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1495" y="310896"/>
            <a:ext cx="1371600" cy="40046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109728"/>
            <a:ext cx="9814255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Research 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91153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900">
                <a:solidFill>
                  <a:srgbClr val="2B2B2B"/>
                </a:solidFill>
                <a:latin typeface="Calibri"/>
              </a:rPr>
              <a:t>▸  Primary: design an Agentic AI framework for patient monitoring and CDSS using MIMIC-IV.</a:t>
            </a:r>
          </a:p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900">
                <a:solidFill>
                  <a:srgbClr val="2B2B2B"/>
                </a:solidFill>
                <a:latin typeface="Calibri"/>
              </a:rPr>
              <a:t>▸  Secondary 1: integrate memory, RAG, and ReAct reasoning natively.</a:t>
            </a:r>
          </a:p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900">
                <a:solidFill>
                  <a:srgbClr val="2B2B2B"/>
                </a:solidFill>
                <a:latin typeface="Calibri"/>
              </a:rPr>
              <a:t>▸  Secondary 2: develop specialized clinical agents for monitoring, diagnosis, and treatment.</a:t>
            </a:r>
          </a:p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900">
                <a:solidFill>
                  <a:srgbClr val="2B2B2B"/>
                </a:solidFill>
                <a:latin typeface="Calibri"/>
              </a:rPr>
              <a:t>▸  Secondary 3: embed trustworthy-AI safeguards and human-in-the-loop validation architecturally.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806440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6B6B6B"/>
                </a:solidFill>
                <a:latin typeface="Calibri"/>
              </a:rPr>
              <a:t>Visual: Target with one central objective and three supporting nodes.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B6B6B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01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00055" y="256032"/>
            <a:ext cx="1554480" cy="51019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uperio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1495" y="310896"/>
            <a:ext cx="1371600" cy="40046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109728"/>
            <a:ext cx="9814255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Research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91153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900">
                <a:solidFill>
                  <a:srgbClr val="2B2B2B"/>
                </a:solidFill>
                <a:latin typeface="Calibri"/>
              </a:rPr>
              <a:t>▸  RQ1: What are the architectural limits of current LLM healthcare systems?</a:t>
            </a:r>
          </a:p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900">
                <a:solidFill>
                  <a:srgbClr val="2B2B2B"/>
                </a:solidFill>
                <a:latin typeface="Calibri"/>
              </a:rPr>
              <a:t>▸  RQ2: How can Agentic AI improve reasoning/memory while preserving physician control?</a:t>
            </a:r>
          </a:p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900">
                <a:solidFill>
                  <a:srgbClr val="2B2B2B"/>
                </a:solidFill>
                <a:latin typeface="Calibri"/>
              </a:rPr>
              <a:t>▸  RQ3: How can specialized agents collaborate while preserving explainability?</a:t>
            </a:r>
          </a:p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900">
                <a:solidFill>
                  <a:srgbClr val="2B2B2B"/>
                </a:solidFill>
                <a:latin typeface="Calibri"/>
              </a:rPr>
              <a:t>▸  RQ4: How does RAG improve reliability, and where does retrieval fail?</a:t>
            </a:r>
          </a:p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900">
                <a:solidFill>
                  <a:srgbClr val="2B2B2B"/>
                </a:solidFill>
                <a:latin typeface="Calibri"/>
              </a:rPr>
              <a:t>▸  RQ5: How can this framework be instantiated on the MIMIC-IV dataset?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806440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6B6B6B"/>
                </a:solidFill>
                <a:latin typeface="Calibri"/>
              </a:rPr>
              <a:t>Visual: Five sequential chevrons leading to a blueprint icon.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B6B6B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01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00055" y="256032"/>
            <a:ext cx="1554480" cy="51019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uperio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1495" y="310896"/>
            <a:ext cx="1371600" cy="40046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109728"/>
            <a:ext cx="9814255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Proposed Methodology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91153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900">
                <a:solidFill>
                  <a:srgbClr val="2B2B2B"/>
                </a:solidFill>
                <a:latin typeface="Calibri"/>
              </a:rPr>
              <a:t>▸  Phase 1: critical literature review of LLMs, Agentic AI, and RAG.</a:t>
            </a:r>
          </a:p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900">
                <a:solidFill>
                  <a:srgbClr val="2B2B2B"/>
                </a:solidFill>
                <a:latin typeface="Calibri"/>
              </a:rPr>
              <a:t>▸  Phase 2: taxonomy formulation and research-gap analysis.</a:t>
            </a:r>
          </a:p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900">
                <a:solidFill>
                  <a:srgbClr val="2B2B2B"/>
                </a:solidFill>
                <a:latin typeface="Calibri"/>
              </a:rPr>
              <a:t>▸  Phase 3: design of the layered agentic framework architecture.</a:t>
            </a:r>
          </a:p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900">
                <a:solidFill>
                  <a:srgbClr val="2B2B2B"/>
                </a:solidFill>
                <a:latin typeface="Calibri"/>
              </a:rPr>
              <a:t>▸  Phase 4: bounded prototype specification &amp; experimental evaluation plan.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806440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6B6B6B"/>
                </a:solidFill>
                <a:latin typeface="Calibri"/>
              </a:rPr>
              <a:t>Visual: Four-step process graphic, Phase 1 -&gt; Phase 4.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B6B6B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01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00055" y="256032"/>
            <a:ext cx="1554480" cy="51019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uperio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1495" y="310896"/>
            <a:ext cx="1371600" cy="40046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109728"/>
            <a:ext cx="9814255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Proposed Framework: Architecture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91153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900">
                <a:solidFill>
                  <a:srgbClr val="2B2B2B"/>
                </a:solidFill>
                <a:latin typeface="Calibri"/>
              </a:rPr>
              <a:t>▸  Perception layer: ingests EHR records, demographics, labs, notes.</a:t>
            </a:r>
          </a:p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900">
                <a:solidFill>
                  <a:srgbClr val="2B2B2B"/>
                </a:solidFill>
                <a:latin typeface="Calibri"/>
              </a:rPr>
              <a:t>▸  Memory layer: maintains short/long-term context and vector-based semantic stores.</a:t>
            </a:r>
          </a:p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900">
                <a:solidFill>
                  <a:srgbClr val="2B2B2B"/>
                </a:solidFill>
                <a:latin typeface="Calibri"/>
              </a:rPr>
              <a:t>▸  Reasoning &amp; orchestration: sequences tasks via ReAct and routes among agents.</a:t>
            </a:r>
          </a:p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900">
                <a:solidFill>
                  <a:srgbClr val="2B2B2B"/>
                </a:solidFill>
                <a:latin typeface="Calibri"/>
              </a:rPr>
              <a:t>▸  Action &amp; verification: generates recommendations under human review.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806440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6B6B6B"/>
                </a:solidFill>
                <a:latin typeface="Calibri"/>
              </a:rPr>
              <a:t>Visual: Stacked layers Perception -&gt; Memory -&gt; Reasoning -&gt; Action, with a vertical Trust pillar.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B6B6B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01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00055" y="256032"/>
            <a:ext cx="1554480" cy="51019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uperio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1495" y="310896"/>
            <a:ext cx="1371600" cy="40046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109728"/>
            <a:ext cx="9814255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Proposed Framework: Specialized Agent Roles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91153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900">
                <a:solidFill>
                  <a:srgbClr val="2B2B2B"/>
                </a:solidFill>
                <a:latin typeface="Calibri"/>
              </a:rPr>
              <a:t>▸  Coordinator agent: routes tasks and resolves conflicting recommendations.</a:t>
            </a:r>
          </a:p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900">
                <a:solidFill>
                  <a:srgbClr val="2B2B2B"/>
                </a:solidFill>
                <a:latin typeface="Calibri"/>
              </a:rPr>
              <a:t>▸  Monitoring agent: tracks physiological state over time.</a:t>
            </a:r>
          </a:p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900">
                <a:solidFill>
                  <a:srgbClr val="2B2B2B"/>
                </a:solidFill>
                <a:latin typeface="Calibri"/>
              </a:rPr>
              <a:t>▸  Diagnosis &amp; treatment agents: weigh candidate conditions and propose interventions.</a:t>
            </a:r>
          </a:p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900">
                <a:solidFill>
                  <a:srgbClr val="2B2B2B"/>
                </a:solidFill>
                <a:latin typeface="Calibri"/>
              </a:rPr>
              <a:t>▸  Explanation &amp; verification agents: summarize reasoning and check against guidelines.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806440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6B6B6B"/>
                </a:solidFill>
                <a:latin typeface="Calibri"/>
              </a:rPr>
              <a:t>Visual: Hub-and-spoke - Coordinator routing to specialized agents.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B6B6B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01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00055" y="256032"/>
            <a:ext cx="1554480" cy="51019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uperio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1495" y="310896"/>
            <a:ext cx="1371600" cy="40046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109728"/>
            <a:ext cx="9814255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Grounding the Framework: RAG &amp; MIMIC-IV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91153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900">
                <a:solidFill>
                  <a:srgbClr val="2B2B2B"/>
                </a:solidFill>
                <a:latin typeface="Calibri"/>
              </a:rPr>
              <a:t>▸  MIMIC-IV dataset: rich, retrospective critical-care records for longitudinal design.</a:t>
            </a:r>
          </a:p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900">
                <a:solidFill>
                  <a:srgbClr val="2B2B2B"/>
                </a:solidFill>
                <a:latin typeface="Calibri"/>
              </a:rPr>
              <a:t>▸  Patient-timeline RAG: shifts retrieval from generic guidelines to the patient's own evolving EHR.</a:t>
            </a:r>
          </a:p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900">
                <a:solidFill>
                  <a:srgbClr val="2B2B2B"/>
                </a:solidFill>
                <a:latin typeface="Calibri"/>
              </a:rPr>
              <a:t>▸  Context-aware decisions: fuses medical literature with patient-specific data for continuous monitoring.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806440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6B6B6B"/>
                </a:solidFill>
                <a:latin typeface="Calibri"/>
              </a:rPr>
              <a:t>Visual: MIMIC-IV -&gt; Vector Database -&gt; patient-specific timeline context to agents.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B6B6B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01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00055" y="256032"/>
            <a:ext cx="1554480" cy="51019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uperio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1495" y="310896"/>
            <a:ext cx="1371600" cy="40046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109728"/>
            <a:ext cx="9814255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Trustworthy AI &amp; Human-in-the-Loop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91153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900">
                <a:solidFill>
                  <a:srgbClr val="2B2B2B"/>
                </a:solidFill>
                <a:latin typeface="Calibri"/>
              </a:rPr>
              <a:t>▸  Explainable AI: surfaces exact evidence and reasoning for clinical review.</a:t>
            </a:r>
          </a:p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900">
                <a:solidFill>
                  <a:srgbClr val="2B2B2B"/>
                </a:solidFill>
                <a:latin typeface="Calibri"/>
              </a:rPr>
              <a:t>▸  Safety verification: algorithmic checks for contradictions and guideline compliance.</a:t>
            </a:r>
          </a:p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900">
                <a:solidFill>
                  <a:srgbClr val="2B2B2B"/>
                </a:solidFill>
                <a:latin typeface="Calibri"/>
              </a:rPr>
              <a:t>▸  Auditability: tamper-evident logging of retrieved data and agent interactions.</a:t>
            </a:r>
          </a:p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900">
                <a:solidFill>
                  <a:srgbClr val="2B2B2B"/>
                </a:solidFill>
                <a:latin typeface="Calibri"/>
              </a:rPr>
              <a:t>▸  Human-in-the-loop: clinicians retain final authority to approve, modify, or reject.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806440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6B6B6B"/>
                </a:solidFill>
                <a:latin typeface="Calibri"/>
              </a:rPr>
              <a:t>Visual: Workflow ending in an Approve / Modify / Reject decision node.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B6B6B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01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00055" y="256032"/>
            <a:ext cx="1554480" cy="51019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uperio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1495" y="310896"/>
            <a:ext cx="1371600" cy="40046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109728"/>
            <a:ext cx="9814255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Expected Contributions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91153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900">
                <a:solidFill>
                  <a:srgbClr val="2B2B2B"/>
                </a:solidFill>
                <a:latin typeface="Calibri"/>
              </a:rPr>
              <a:t>▸  Architectural: a coherent, verifiable multi-agent framework for longitudinal CDSS.</a:t>
            </a:r>
          </a:p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900">
                <a:solidFill>
                  <a:srgbClr val="2B2B2B"/>
                </a:solidFill>
                <a:latin typeface="Calibri"/>
              </a:rPr>
              <a:t>▸  Methodological: patient-timeline retrieval paired with a dedicated verification agent.</a:t>
            </a:r>
          </a:p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900">
                <a:solidFill>
                  <a:srgbClr val="2B2B2B"/>
                </a:solidFill>
                <a:latin typeface="Calibri"/>
              </a:rPr>
              <a:t>▸  Foundation for future work: a reproducible design and concrete evaluation protocol.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806440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6B6B6B"/>
                </a:solidFill>
                <a:latin typeface="Calibri"/>
              </a:rPr>
              <a:t>Visual: Three pillars with checkmark icons.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B6B6B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01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00055" y="256032"/>
            <a:ext cx="1554480" cy="51019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uperio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1495" y="310896"/>
            <a:ext cx="1371600" cy="40046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109728"/>
            <a:ext cx="9814255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Timeline &amp; Scope Boundaries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91153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900">
                <a:solidFill>
                  <a:srgbClr val="2B2B2B"/>
                </a:solidFill>
                <a:latin typeface="Calibri"/>
              </a:rPr>
              <a:t>▸  In scope: conceptual architecture, bounded prototype, evaluation plan, MIMIC-IV integration.</a:t>
            </a:r>
          </a:p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900">
                <a:solidFill>
                  <a:srgbClr val="2B2B2B"/>
                </a:solidFill>
                <a:latin typeface="Calibri"/>
              </a:rPr>
              <a:t>▸  Out of scope: production hospital software, live EHR integration, prospective clinical trials.</a:t>
            </a:r>
          </a:p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900">
                <a:solidFill>
                  <a:srgbClr val="2B2B2B"/>
                </a:solidFill>
                <a:latin typeface="Calibri"/>
              </a:rPr>
              <a:t>▸  Timeline: Literature &amp; Taxonomy -&gt; Framework Design -&gt; Prototype &amp; Evaluation Planning.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806440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6B6B6B"/>
                </a:solidFill>
                <a:latin typeface="Calibri"/>
              </a:rPr>
              <a:t>Visual: Gantt of thesis phases plus an In-Scope / Out-of-Scope box.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B6B6B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01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00055" y="256032"/>
            <a:ext cx="1554480" cy="51019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uperio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1495" y="310896"/>
            <a:ext cx="1371600" cy="40046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109728"/>
            <a:ext cx="9814255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Conclusion &amp; Q&amp;A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91153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900">
                <a:solidFill>
                  <a:srgbClr val="2B2B2B"/>
                </a:solidFill>
                <a:latin typeface="Calibri"/>
              </a:rPr>
              <a:t>▸  Summary: transitioning from passive LLMs to verifiable, agent-based clinical workflows.</a:t>
            </a:r>
          </a:p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900">
                <a:solidFill>
                  <a:srgbClr val="2B2B2B"/>
                </a:solidFill>
                <a:latin typeface="Calibri"/>
              </a:rPr>
              <a:t>▸  Integration: fusing memory, RAG, and HITL enables safe, longitudinal monitoring.</a:t>
            </a:r>
          </a:p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900">
                <a:solidFill>
                  <a:srgbClr val="2B2B2B"/>
                </a:solidFill>
                <a:latin typeface="Calibri"/>
              </a:rPr>
              <a:t>▸  Final thought: transparent, evidence-based recommendations that assist - not replace - clinical judgment.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806440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6B6B6B"/>
                </a:solidFill>
                <a:latin typeface="Calibri"/>
              </a:rPr>
              <a:t>Visual: Agentic AI + MIMIC-IV + Trustworthy AI  -&gt;  Intelligent Clinical Decision Support.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B6B6B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