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777240"/>
            <a:ext cx="3108960" cy="907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07127" y="3063240"/>
            <a:ext cx="2377440" cy="3810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99971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100" b="0" i="0">
                <a:solidFill>
                  <a:srgbClr val="FFFFFF"/>
                </a:solidFill>
                <a:latin typeface="Aptos"/>
              </a:rPr>
              <a:t>An Agentic AI Framework for Intelligent Patient</a:t>
            </a:r>
          </a:p>
          <a:p>
            <a:pPr algn="ctr">
              <a:lnSpc>
                <a:spcPct val="110000"/>
              </a:lnSpc>
            </a:pPr>
            <a:r>
              <a:rPr sz="3100" b="0" i="0">
                <a:solidFill>
                  <a:srgbClr val="FFFFFF"/>
                </a:solidFill>
                <a:latin typeface="Aptos"/>
              </a:rPr>
              <a:t>Monitoring and Clinical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9971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Aptos"/>
              </a:rPr>
              <a:t>Adeel Gill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CCC4C6"/>
                </a:solidFill>
                <a:latin typeface="Aptos"/>
              </a:rPr>
              <a:t>MS Thesis Proposal Defense  ·  Master of Science in Artificial Intelligence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0" i="0">
                <a:solidFill>
                  <a:srgbClr val="CCC4C6"/>
                </a:solidFill>
                <a:latin typeface="Aptos"/>
              </a:rPr>
              <a:t>Supervisor: Dr. Fawad Nasim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CC4C6"/>
                </a:solidFill>
                <a:latin typeface="Aptos"/>
              </a:rPr>
              <a:t>Faculty of Computer Science and Information Technology  ·  The Superior University,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Clinical Data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Unprecedented data generation: continuous streams of vitals, labs, notes, and imaging.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Cognitive bottleneck: data production outpaces manual interpretation under time pressure.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The role of AI: reduce the cognitive load of synthesis, not replace clinician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Clinical data bottleneck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79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Vitals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01784" y="2926079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419856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01784" y="3419856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Imaging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77656" y="4160520"/>
            <a:ext cx="1828800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Manual synthesis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5010912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Aptos"/>
              </a:rPr>
              <a:t>Clinician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95944" y="3328415"/>
            <a:ext cx="896112" cy="832105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592056" y="3328415"/>
            <a:ext cx="896111" cy="832105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95944" y="3822191"/>
            <a:ext cx="896112" cy="338329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592056" y="3822191"/>
            <a:ext cx="896111" cy="338329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92056" y="4562856"/>
            <a:ext cx="0" cy="448056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The Shift to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Passive LLMs: high fluency, but lack persistence, planning, and patient memory.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Agentic AI: shifts models from passive responders to goal-directed systems.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Core mechanisms: autonomous reasoning, tool use, memory management, environmental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Passive LLM vs. agentic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907791"/>
            <a:ext cx="3364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A"/>
                </a:solidFill>
                <a:latin typeface="Aptos"/>
              </a:rPr>
              <a:t>PASSIVE 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145535"/>
            <a:ext cx="932688" cy="3840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5712" y="3145535"/>
            <a:ext cx="932688" cy="3840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Black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41864" y="3145535"/>
            <a:ext cx="932688" cy="3840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42248" y="3337559"/>
            <a:ext cx="283464" cy="0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3337559"/>
            <a:ext cx="283464" cy="0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09560" y="3840479"/>
            <a:ext cx="3364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72924"/>
                </a:solidFill>
                <a:latin typeface="Aptos"/>
              </a:rPr>
              <a:t>AGENTIC 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078224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Perceive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2144" y="4078224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4728" y="4078224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Reason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97312" y="4078224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4279392"/>
            <a:ext cx="85344" cy="0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49384" y="4279392"/>
            <a:ext cx="85344" cy="0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11968" y="4279392"/>
            <a:ext cx="85344" cy="0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885932" y="4480560"/>
            <a:ext cx="0" cy="256032"/>
          </a:xfrm>
          <a:prstGeom prst="line">
            <a:avLst/>
          </a:prstGeom>
          <a:ln w="17780">
            <a:solidFill>
              <a:srgbClr val="8A8A8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298180" y="4736592"/>
            <a:ext cx="2587752" cy="0"/>
          </a:xfrm>
          <a:prstGeom prst="line">
            <a:avLst/>
          </a:prstGeom>
          <a:ln w="17780">
            <a:solidFill>
              <a:srgbClr val="8A8A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298180" y="4480560"/>
            <a:ext cx="0" cy="256032"/>
          </a:xfrm>
          <a:prstGeom prst="line">
            <a:avLst/>
          </a:prstGeom>
          <a:ln w="17780">
            <a:solidFill>
              <a:srgbClr val="8A8A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4791455"/>
            <a:ext cx="3364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8A8A8A"/>
                </a:solidFill>
                <a:latin typeface="Aptos"/>
              </a:rPr>
              <a:t>environmental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Volume &amp; heterogeneity: reconciling diverse EHR data is slow and error-prone.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LLM limitations: isolated tools lacking cross-step planning and durable patient models.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CDSS deficits: high accuracy often lacks explainability, evidence retrieval, and long-term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Three failing pillars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3200399"/>
            <a:ext cx="969264" cy="1600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3200399"/>
            <a:ext cx="969264" cy="50800"/>
          </a:xfrm>
          <a:prstGeom prst="rect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7888" y="3054095"/>
            <a:ext cx="292608" cy="292608"/>
          </a:xfrm>
          <a:prstGeom prst="ellipse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200399"/>
            <a:ext cx="969264" cy="160020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Lack of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3200399"/>
            <a:ext cx="969264" cy="1600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3200399"/>
            <a:ext cx="969264" cy="50800"/>
          </a:xfrm>
          <a:prstGeom prst="rect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45752" y="3054095"/>
            <a:ext cx="292608" cy="292608"/>
          </a:xfrm>
          <a:prstGeom prst="ellipse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3200399"/>
            <a:ext cx="969264" cy="160020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Opaque reasoning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05288" y="3200399"/>
            <a:ext cx="969264" cy="1600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0305288" y="3200399"/>
            <a:ext cx="969264" cy="50800"/>
          </a:xfrm>
          <a:prstGeom prst="rect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43615" y="3054095"/>
            <a:ext cx="292608" cy="292608"/>
          </a:xfrm>
          <a:prstGeom prst="ellipse">
            <a:avLst/>
          </a:prstGeom>
          <a:solidFill>
            <a:srgbClr val="C87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05288" y="3200399"/>
            <a:ext cx="969264" cy="160020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Fragmented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855464"/>
            <a:ext cx="3364992" cy="190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Agentic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ReAct: interleaves reasoning and acting, but lacks long-term memory.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AutoGen &amp; CAMEL: enable multi-agent coordination and role-play, but struggle with communication loops.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MetaGPT: enforces Standard Operating Procedures (SOPs), mirroring clinical protocols.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Limitation: general-purpose designs lacking integrated clinical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Framework capability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79"/>
            <a:ext cx="3364992" cy="18288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2926079"/>
            <a:ext cx="3364992" cy="36576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2926079"/>
            <a:ext cx="1078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92607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1512" y="292607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3032" y="292607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291839"/>
            <a:ext cx="1078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Aptos"/>
              </a:rPr>
              <a:t>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331012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331012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3032" y="331012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657600"/>
            <a:ext cx="3364992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657600"/>
            <a:ext cx="1078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Aptos"/>
              </a:rPr>
              <a:t>AutoGen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67588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B725E"/>
                </a:solidFill>
                <a:latin typeface="Aptos"/>
              </a:rPr>
              <a:t>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1512" y="367588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3032" y="367588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B725E"/>
                </a:solidFill>
                <a:latin typeface="Aptos"/>
              </a:rPr>
              <a:t>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23360"/>
            <a:ext cx="1078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Aptos"/>
              </a:rPr>
              <a:t>CAMEL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4041648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B725E"/>
                </a:solidFill>
                <a:latin typeface="Aptos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4041648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3032" y="4041648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8A8A8A"/>
                </a:solidFill>
                <a:latin typeface="Aptos"/>
              </a:rPr>
              <a:t>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389120"/>
            <a:ext cx="3364992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4389120"/>
            <a:ext cx="1078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Aptos"/>
              </a:rPr>
              <a:t>MetaGPT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440740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B725E"/>
                </a:solidFill>
                <a:latin typeface="Aptos"/>
              </a:rPr>
              <a:t>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440740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F8A5B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3032" y="4407407"/>
            <a:ext cx="731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B725E"/>
                </a:solidFill>
                <a:latin typeface="Aptos"/>
              </a:rPr>
              <a:t>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3291839"/>
            <a:ext cx="3364992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3657600"/>
            <a:ext cx="3364992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9560" y="4023360"/>
            <a:ext cx="3364992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9560" y="4389120"/>
            <a:ext cx="3364992" cy="95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4828031"/>
            <a:ext cx="3364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8A8A8A"/>
                </a:solidFill>
                <a:latin typeface="Aptos"/>
              </a:rPr>
              <a:t>✓ met   ◐ partial   ✕ absent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RAG &amp; Healthcare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Medical LLMs (e.g., Med-PaLM): strong QA performance but lack external retrieval and memory.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Retrieval-Augmented Generation (RAG): anchors reasoning to verifiable evidence, reducing hallucinations.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Current state (e.g., MedRAG): improves specificity but focuses on isolated diagnostic snapshots.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Retrieval-augmented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79"/>
            <a:ext cx="1572768" cy="420624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Medical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01784" y="2926079"/>
            <a:ext cx="1572768" cy="420624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EHR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databases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656" y="3657600"/>
            <a:ext cx="182880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>Retriever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77656" y="4370832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Aptos"/>
              </a:rPr>
              <a:t>Generator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4776" y="5120640"/>
            <a:ext cx="219456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Grounded recommendation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5944" y="3346703"/>
            <a:ext cx="438912" cy="310897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049256" y="3346703"/>
            <a:ext cx="438912" cy="310897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92056" y="4078224"/>
            <a:ext cx="0" cy="292608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92056" y="4828032"/>
            <a:ext cx="0" cy="292608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The Limits of Current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Static evaluation: tested on isolated exams (e.g., MedQA) rather than real longitudinal trajectories.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Generic retrieval: RAG grounds in general guidelines, missing the patient's specific evolving timeline.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Omitted trustworthiness: verification and faithful audit trails are not first-class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The research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01000" y="2926079"/>
            <a:ext cx="1600200" cy="1600200"/>
          </a:xfrm>
          <a:prstGeom prst="ellipse">
            <a:avLst/>
          </a:prstGeom>
          <a:noFill/>
          <a:ln w="2540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2" y="2926079"/>
            <a:ext cx="1600200" cy="1600200"/>
          </a:xfrm>
          <a:prstGeom prst="ellipse">
            <a:avLst/>
          </a:prstGeom>
          <a:noFill/>
          <a:ln w="25400">
            <a:solidFill>
              <a:srgbClr val="CB72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91956" y="3767328"/>
            <a:ext cx="1600200" cy="1600200"/>
          </a:xfrm>
          <a:prstGeom prst="ellipse">
            <a:avLst/>
          </a:prstGeom>
          <a:noFill/>
          <a:ln w="25400">
            <a:solidFill>
              <a:srgbClr val="6C1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127248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72924"/>
                </a:solidFill>
                <a:latin typeface="Aptos"/>
              </a:rPr>
              <a:t>Longitudinal ICU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7272" y="3127248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B725E"/>
                </a:solidFill>
                <a:latin typeface="Aptos"/>
              </a:rPr>
              <a:t>Patient-timeline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486460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6C1C74"/>
                </a:solidFill>
                <a:latin typeface="Aptos"/>
              </a:rPr>
              <a:t>Faithful auditability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3858768"/>
            <a:ext cx="11338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C1C74"/>
                </a:solidFill>
                <a:latin typeface="Aptos"/>
              </a:rPr>
              <a:t>Proposed</a:t>
            </a:r>
          </a:p>
          <a:p>
            <a:pPr algn="ctr"/>
            <a:r>
              <a:rPr sz="900" b="1" i="0">
                <a:solidFill>
                  <a:srgbClr val="6C1C74"/>
                </a:solidFill>
                <a:latin typeface="Aptos"/>
              </a:rPr>
              <a:t>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Research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Primary: design an Agentic AI framework for patient monitoring and CDSS using MIMIC-IV.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Secondary 1: integrate memory, RAG, and ReAct reasoning natively.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Secondary 2: develop specialized clinical agents for monitoring, diagnosis, and treatment.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Secondary 3: embed trustworthy-AI safeguards and human-in-the-loop validation architecturally.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Objective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592056" y="3154679"/>
            <a:ext cx="0" cy="1042417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650224" y="4197096"/>
            <a:ext cx="941832" cy="1005840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92056" y="4197096"/>
            <a:ext cx="941832" cy="1005840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95944" y="3858768"/>
            <a:ext cx="1792224" cy="67665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2032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Aptos"/>
              </a:rPr>
              <a:t>Agentic CDSS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Aptos"/>
              </a:rPr>
              <a:t>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2926079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Memory · RAG · 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919472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Specialized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clinical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3224" y="4919472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Trustworthy AI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+ HITL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RQ1: What are the architectural limits of current LLM healthcare systems?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RQ2: How can Agentic AI improve reasoning/memory while preserving physician control?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RQ3: How can specialized agents collaborate while preserving explainability?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RQ4: How does RAG improve reliability, and where does retrieval fail?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RQ5: How can this framework be instantiated on the MIMIC-IV dataset?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Five research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2926079"/>
            <a:ext cx="3054096" cy="347472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38100" tIns="12700" bIns="12700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RQ1   </a:t>
            </a:r>
            <a:r>
              <a:rPr sz="950" b="0">
                <a:solidFill>
                  <a:srgbClr val="222222"/>
                </a:solidFill>
                <a:latin typeface="Aptos"/>
              </a:rPr>
              <a:t>Architectural limits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92056" y="3273551"/>
            <a:ext cx="0" cy="15087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8" y="3424427"/>
            <a:ext cx="3054096" cy="347472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38100" tIns="12700" bIns="12700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RQ2   </a:t>
            </a:r>
            <a:r>
              <a:rPr sz="950" b="0">
                <a:solidFill>
                  <a:srgbClr val="222222"/>
                </a:solidFill>
                <a:latin typeface="Aptos"/>
              </a:rPr>
              <a:t>Reasoning + physician control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92056" y="3771900"/>
            <a:ext cx="0" cy="15087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65008" y="3922776"/>
            <a:ext cx="3054096" cy="347472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38100" tIns="12700" bIns="12700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RQ3   </a:t>
            </a:r>
            <a:r>
              <a:rPr sz="950" b="0">
                <a:solidFill>
                  <a:srgbClr val="222222"/>
                </a:solidFill>
                <a:latin typeface="Aptos"/>
              </a:rPr>
              <a:t>Agent collaboration &amp; XAI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92056" y="4270248"/>
            <a:ext cx="0" cy="15087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65008" y="4421124"/>
            <a:ext cx="3054096" cy="347472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38100" tIns="12700" bIns="12700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RQ4   </a:t>
            </a:r>
            <a:r>
              <a:rPr sz="950" b="0">
                <a:solidFill>
                  <a:srgbClr val="222222"/>
                </a:solidFill>
                <a:latin typeface="Aptos"/>
              </a:rPr>
              <a:t>RAG reliability &amp; failure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2056" y="4768596"/>
            <a:ext cx="0" cy="15087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65008" y="4919472"/>
            <a:ext cx="3054096" cy="347472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38100" tIns="12700" bIns="12700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RQ5   </a:t>
            </a:r>
            <a:r>
              <a:rPr sz="950" b="0">
                <a:solidFill>
                  <a:srgbClr val="222222"/>
                </a:solidFill>
                <a:latin typeface="Aptos"/>
              </a:rPr>
              <a:t>MIMIC-IV instantiation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Phase 1: critical literature review of LLMs, Agentic AI, and RAG.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Phase 2: taxonomy formulation and research-gap analysis.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Phase 3: design of the layered agentic framework architecture.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Phase 4: bounded prototype specification &amp; experimental evaluation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Four-phase 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2926079"/>
            <a:ext cx="3054096" cy="47548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2926079"/>
            <a:ext cx="50800" cy="475488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980944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0">
                <a:solidFill>
                  <a:srgbClr val="D72924"/>
                </a:solidFill>
                <a:latin typeface="Aptos"/>
              </a:rPr>
              <a:t>PHASE 1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22222"/>
                </a:solidFill>
                <a:latin typeface="Aptos"/>
              </a:rPr>
              <a:t>Literature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92056" y="3401568"/>
            <a:ext cx="0" cy="196595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65008" y="3598163"/>
            <a:ext cx="3054096" cy="47548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3598163"/>
            <a:ext cx="50800" cy="475488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653027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0">
                <a:solidFill>
                  <a:srgbClr val="D72924"/>
                </a:solidFill>
                <a:latin typeface="Aptos"/>
              </a:rPr>
              <a:t>PHASE 2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22222"/>
                </a:solidFill>
                <a:latin typeface="Aptos"/>
              </a:rPr>
              <a:t>Taxonomy &amp; gap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92056" y="4073652"/>
            <a:ext cx="0" cy="19659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65008" y="4270248"/>
            <a:ext cx="3054096" cy="47548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4270248"/>
            <a:ext cx="50800" cy="475488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432511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0">
                <a:solidFill>
                  <a:srgbClr val="D72924"/>
                </a:solidFill>
                <a:latin typeface="Aptos"/>
              </a:rPr>
              <a:t>PHASE 3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22222"/>
                </a:solidFill>
                <a:latin typeface="Aptos"/>
              </a:rPr>
              <a:t>Framework design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92056" y="4745736"/>
            <a:ext cx="0" cy="196596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65008" y="4942331"/>
            <a:ext cx="3054096" cy="475488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4942331"/>
            <a:ext cx="50800" cy="475488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4997195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0">
                <a:solidFill>
                  <a:srgbClr val="D72924"/>
                </a:solidFill>
                <a:latin typeface="Aptos"/>
              </a:rPr>
              <a:t>PHASE 4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22222"/>
                </a:solidFill>
                <a:latin typeface="Aptos"/>
              </a:rPr>
              <a:t>Prototype &amp; evaluation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PROPOSED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Perception layer: ingests EHR records, demographics, labs, notes.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Memory layer: maintains short/long-term context and vector-based semantic stores.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Reasoning &amp; orchestration: sequences tasks via ReAct and routes among agents.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Action &amp; verification: generates recommendations under human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Layered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926079"/>
            <a:ext cx="256032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Perception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9720" y="3383279"/>
            <a:ext cx="0" cy="123445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9560" y="3506724"/>
            <a:ext cx="256032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Memory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89720" y="3963924"/>
            <a:ext cx="0" cy="123444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087368"/>
            <a:ext cx="256032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Reasoning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89720" y="4544568"/>
            <a:ext cx="0" cy="123444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9560" y="4668012"/>
            <a:ext cx="256032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97896" y="2926079"/>
            <a:ext cx="676656" cy="2199132"/>
          </a:xfrm>
          <a:prstGeom prst="roundRect">
            <a:avLst>
              <a:gd name="adj" fmla="val 6000"/>
            </a:avLst>
          </a:prstGeom>
          <a:solidFill>
            <a:srgbClr val="F3E9F5"/>
          </a:solidFill>
          <a:ln w="12700">
            <a:solidFill>
              <a:srgbClr val="6C1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C1C74"/>
                </a:solidFill>
                <a:latin typeface="Aptos"/>
              </a:rPr>
              <a:t>Trust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C1C74"/>
                </a:solidFill>
                <a:latin typeface="Aptos"/>
              </a:rPr>
              <a:t>&amp;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C1C74"/>
                </a:solidFill>
                <a:latin typeface="Aptos"/>
              </a:rPr>
              <a:t>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PROPOSED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Specialized Agent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Coordinator agent: routes tasks and resolves conflicting recommendations.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Monitoring agent: tracks physiological state over time.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Diagnosis &amp; treatment agents: weigh candidate conditions and propose interventions.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Explanation &amp; verification agents: summarize reasoning and check against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Coordinator hub &amp; spokes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8595360" y="3136391"/>
            <a:ext cx="996696" cy="1024129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92056" y="3136391"/>
            <a:ext cx="996696" cy="1024129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95360" y="4160520"/>
            <a:ext cx="996696" cy="1078992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92056" y="4160520"/>
            <a:ext cx="996696" cy="1078992"/>
          </a:xfrm>
          <a:prstGeom prst="line">
            <a:avLst/>
          </a:prstGeom>
          <a:ln w="1905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14816" y="3886200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2032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222"/>
                </a:solidFill>
                <a:latin typeface="Aptos"/>
              </a:rPr>
              <a:t>Coordinator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926079"/>
            <a:ext cx="137160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02952" y="2926079"/>
            <a:ext cx="137160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Diagnosis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5029200"/>
            <a:ext cx="137160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Treatment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02952" y="5029200"/>
            <a:ext cx="137160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Explanation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/ verify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PROPOSED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Grounding with RAG &amp; MIMIC-IV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MIMIC-IV dataset: rich, retrospective critical-care records for longitudinal design.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Patient-timeline RAG: shifts retrieval from generic guidelines to the patient's own evolving EHR.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Context-aware decisions: fuses medical literature with patient-specific data for continuous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Patient-timeline grounding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0456" y="2926079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MIMIC-IV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92056" y="3383279"/>
            <a:ext cx="0" cy="214884"/>
          </a:xfrm>
          <a:prstGeom prst="line">
            <a:avLst/>
          </a:prstGeom>
          <a:ln w="1651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0456" y="3598163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Vector 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92056" y="4055363"/>
            <a:ext cx="0" cy="214885"/>
          </a:xfrm>
          <a:prstGeom prst="line">
            <a:avLst/>
          </a:prstGeom>
          <a:ln w="1651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0456" y="427024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Aptos"/>
              </a:rPr>
              <a:t>Patient-timeline 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92056" y="4727448"/>
            <a:ext cx="0" cy="214884"/>
          </a:xfrm>
          <a:prstGeom prst="line">
            <a:avLst/>
          </a:prstGeom>
          <a:ln w="1651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0456" y="4942331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22222"/>
                </a:solidFill>
                <a:latin typeface="Aptos"/>
              </a:rPr>
              <a:t>Clinical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TRUSTWORTHY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Trustworthy AI &amp;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Explainable AI: surfaces exact evidence and reasoning for clinical review.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Safety verification: algorithmic checks for contradictions and guideline compliance.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Auditability: tamper-evident logging of retrieved data and agent interactions.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Human-in-the-loop: clinicians retain final authority to approve, modify, or reject.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Human-in-the-loop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03336" y="2926079"/>
            <a:ext cx="23774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Agent recommendation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03336" y="3511296"/>
            <a:ext cx="2377440" cy="402336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Verification &amp; XAI</a:t>
            </a:r>
          </a:p>
        </p:txBody>
      </p:sp>
      <p:sp>
        <p:nvSpPr>
          <p:cNvPr id="14" name="Diamond 13"/>
          <p:cNvSpPr/>
          <p:nvPr/>
        </p:nvSpPr>
        <p:spPr>
          <a:xfrm>
            <a:off x="8769096" y="4151376"/>
            <a:ext cx="1645920" cy="713232"/>
          </a:xfrm>
          <a:prstGeom prst="diamond">
            <a:avLst/>
          </a:prstGeom>
          <a:solidFill>
            <a:srgbClr val="F3E9F5"/>
          </a:solidFill>
          <a:ln w="15875">
            <a:solidFill>
              <a:srgbClr val="6C1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Aptos"/>
              </a:rPr>
              <a:t>Clinician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92056" y="3328415"/>
            <a:ext cx="0" cy="182881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92056" y="3913631"/>
            <a:ext cx="0" cy="237745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9560" y="5120640"/>
            <a:ext cx="1060704" cy="384048"/>
          </a:xfrm>
          <a:prstGeom prst="roundRect">
            <a:avLst>
              <a:gd name="adj" fmla="val 14000"/>
            </a:avLst>
          </a:prstGeom>
          <a:solidFill>
            <a:srgbClr val="E9F2EC"/>
          </a:solidFill>
          <a:ln w="12700">
            <a:solidFill>
              <a:srgbClr val="3F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F8A5B"/>
                </a:solidFill>
                <a:latin typeface="Aptos"/>
              </a:rPr>
              <a:t>Approve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439912" y="4864608"/>
            <a:ext cx="1152144" cy="2560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61704" y="5120640"/>
            <a:ext cx="1060704" cy="384048"/>
          </a:xfrm>
          <a:prstGeom prst="roundRect">
            <a:avLst>
              <a:gd name="adj" fmla="val 14000"/>
            </a:avLst>
          </a:prstGeom>
          <a:solidFill>
            <a:srgbClr val="F7EEE1"/>
          </a:solidFill>
          <a:ln w="12700">
            <a:solidFill>
              <a:srgbClr val="C87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8781E"/>
                </a:solidFill>
                <a:latin typeface="Aptos"/>
              </a:rPr>
              <a:t>Modify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92056" y="4864608"/>
            <a:ext cx="0" cy="2560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13848" y="5120640"/>
            <a:ext cx="1060704" cy="384048"/>
          </a:xfrm>
          <a:prstGeom prst="roundRect">
            <a:avLst>
              <a:gd name="adj" fmla="val 14000"/>
            </a:avLst>
          </a:prstGeom>
          <a:solidFill>
            <a:srgbClr val="F3E9F5"/>
          </a:solidFill>
          <a:ln w="1270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D72924"/>
                </a:solidFill>
                <a:latin typeface="Aptos"/>
              </a:rPr>
              <a:t>Reject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92056" y="4864608"/>
            <a:ext cx="1152144" cy="256032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Expected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Architectural: a coherent, verifiable multi-agent framework for longitudinal CDSS.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Methodological: patient-timeline retrieval paired with a dedicated verification agent.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Foundation for future work: a reproducible design and concrete evaluation protocol.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Three contributions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3310127"/>
            <a:ext cx="987552" cy="135331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8247888" y="3154679"/>
            <a:ext cx="310896" cy="310896"/>
          </a:xfrm>
          <a:prstGeom prst="ellipse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419856"/>
            <a:ext cx="987552" cy="124358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22222"/>
                </a:solidFill>
                <a:latin typeface="Aptos"/>
              </a:rPr>
              <a:t>Architectural</a:t>
            </a:r>
          </a:p>
          <a:p>
            <a:pPr algn="ctr">
              <a:lnSpc>
                <a:spcPct val="105000"/>
              </a:lnSpc>
            </a:pPr>
            <a:r>
              <a:rPr sz="300" b="0">
                <a:solidFill>
                  <a:srgbClr val="222222"/>
                </a:solidFill>
                <a:latin typeface="Aptos"/>
              </a:rPr>
              <a:t> </a:t>
            </a:r>
          </a:p>
          <a:p>
            <a:pPr algn="ctr">
              <a:lnSpc>
                <a:spcPct val="105000"/>
              </a:lnSpc>
            </a:pPr>
            <a:r>
              <a:rPr sz="830" b="0">
                <a:solidFill>
                  <a:srgbClr val="555555"/>
                </a:solidFill>
                <a:latin typeface="Aptos"/>
              </a:rPr>
              <a:t>Verifiable multi-agent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310127"/>
            <a:ext cx="987552" cy="135331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9436608" y="3154679"/>
            <a:ext cx="310896" cy="310896"/>
          </a:xfrm>
          <a:prstGeom prst="ellipse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419856"/>
            <a:ext cx="987552" cy="124358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22222"/>
                </a:solidFill>
                <a:latin typeface="Aptos"/>
              </a:rPr>
              <a:t>Methodological</a:t>
            </a:r>
          </a:p>
          <a:p>
            <a:pPr algn="ctr">
              <a:lnSpc>
                <a:spcPct val="105000"/>
              </a:lnSpc>
            </a:pPr>
            <a:r>
              <a:rPr sz="300" b="0">
                <a:solidFill>
                  <a:srgbClr val="222222"/>
                </a:solidFill>
                <a:latin typeface="Aptos"/>
              </a:rPr>
              <a:t> </a:t>
            </a:r>
          </a:p>
          <a:p>
            <a:pPr algn="ctr">
              <a:lnSpc>
                <a:spcPct val="105000"/>
              </a:lnSpc>
            </a:pPr>
            <a:r>
              <a:rPr sz="830" b="0">
                <a:solidFill>
                  <a:srgbClr val="555555"/>
                </a:solidFill>
                <a:latin typeface="Aptos"/>
              </a:rPr>
              <a:t>Patient-timeline RAG + verifier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3310127"/>
            <a:ext cx="987552" cy="135331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10625328" y="3154679"/>
            <a:ext cx="310896" cy="310896"/>
          </a:xfrm>
          <a:prstGeom prst="ellipse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3419856"/>
            <a:ext cx="987552" cy="124358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22222"/>
                </a:solidFill>
                <a:latin typeface="Aptos"/>
              </a:rPr>
              <a:t>Foundation</a:t>
            </a:r>
          </a:p>
          <a:p>
            <a:pPr algn="ctr">
              <a:lnSpc>
                <a:spcPct val="105000"/>
              </a:lnSpc>
            </a:pPr>
            <a:r>
              <a:rPr sz="300" b="0">
                <a:solidFill>
                  <a:srgbClr val="222222"/>
                </a:solidFill>
                <a:latin typeface="Aptos"/>
              </a:rPr>
              <a:t> </a:t>
            </a:r>
          </a:p>
          <a:p>
            <a:pPr algn="ctr">
              <a:lnSpc>
                <a:spcPct val="105000"/>
              </a:lnSpc>
            </a:pPr>
            <a:r>
              <a:rPr sz="830" b="0">
                <a:solidFill>
                  <a:srgbClr val="555555"/>
                </a:solidFill>
                <a:latin typeface="Aptos"/>
              </a:rPr>
              <a:t>Design + evaluation 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SCOPE &amp;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Timeline &amp; Scope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In scope: conceptual architecture, bounded prototype, evaluation plan, MIMIC-IV integration.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Out of scope: production hospital software, live EHR integration, prospective clinical trials.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Timeline: Literature &amp; Taxonomy → Framework Design → Prototype &amp; Evaluation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Phases &amp;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926079"/>
            <a:ext cx="10789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ptos"/>
              </a:rPr>
              <a:t>Lit &amp; taxonomy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2953511"/>
            <a:ext cx="940917" cy="219456"/>
          </a:xfrm>
          <a:prstGeom prst="roundRect">
            <a:avLst>
              <a:gd name="adj" fmla="val 40000"/>
            </a:avLst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328415"/>
            <a:ext cx="10789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ptos"/>
              </a:rPr>
              <a:t>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06356" y="3355847"/>
            <a:ext cx="940917" cy="219456"/>
          </a:xfrm>
          <a:prstGeom prst="roundRect">
            <a:avLst>
              <a:gd name="adj" fmla="val 40000"/>
            </a:avLst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730752"/>
            <a:ext cx="10789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ptos"/>
              </a:rPr>
              <a:t>Prototype &amp; 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3634" y="3758184"/>
            <a:ext cx="940917" cy="219456"/>
          </a:xfrm>
          <a:prstGeom prst="roundRect">
            <a:avLst>
              <a:gd name="adj" fmla="val 40000"/>
            </a:avLst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4041648"/>
            <a:ext cx="2240280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4224528"/>
            <a:ext cx="1591056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224528"/>
            <a:ext cx="1591056" cy="274320"/>
          </a:xfrm>
          <a:prstGeom prst="roundRect">
            <a:avLst>
              <a:gd name="adj" fmla="val 10000"/>
            </a:avLst>
          </a:prstGeom>
          <a:solidFill>
            <a:srgbClr val="E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242816"/>
            <a:ext cx="15910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8A5B"/>
                </a:solidFill>
                <a:latin typeface="Aptos"/>
              </a:rPr>
              <a:t>In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4553712"/>
            <a:ext cx="144475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Aptos"/>
              </a:rPr>
              <a:t>Architecture · prototype · eval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83496" y="4224528"/>
            <a:ext cx="1591056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22222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83496" y="4224528"/>
            <a:ext cx="1591056" cy="274320"/>
          </a:xfrm>
          <a:prstGeom prst="roundRect">
            <a:avLst>
              <a:gd name="adj" fmla="val 10000"/>
            </a:avLst>
          </a:prstGeom>
          <a:solidFill>
            <a:srgbClr val="F7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4242816"/>
            <a:ext cx="15910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8781E"/>
                </a:solidFill>
                <a:latin typeface="Aptos"/>
              </a:rPr>
              <a:t>Out of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4553712"/>
            <a:ext cx="144475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55555"/>
                </a:solidFill>
                <a:latin typeface="Aptos"/>
              </a:rPr>
              <a:t>Production · live EHR · trials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peri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457200"/>
            <a:ext cx="1234440" cy="360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72924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50800" cy="64008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6583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222222"/>
                </a:solidFill>
                <a:latin typeface="Aptos"/>
              </a:rPr>
              <a:t>Conclusion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Summary: transitioning from passive LLMs to verifiable, agent-based clinical workflows.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Integration: fusing memory, RAG, and HITL enables safe, longitudinal monitoring.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900" b="0" i="0">
                <a:solidFill>
                  <a:srgbClr val="D72924"/>
                </a:solidFill>
                <a:latin typeface="Aptos"/>
              </a:rPr>
              <a:t>—  </a:t>
            </a:r>
            <a:r>
              <a:rPr sz="1900" b="0" i="0">
                <a:solidFill>
                  <a:srgbClr val="222222"/>
                </a:solidFill>
                <a:latin typeface="Aptos"/>
              </a:rPr>
              <a:t>Final thought: transparent, evidence-based recommendations that assist — not replace — clinical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913632" cy="3977639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>
            <a:outerShdw blurRad="90000" dist="38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12263"/>
            <a:ext cx="3364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ptos"/>
              </a:rPr>
              <a:t>FIGURE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5000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Aptos"/>
              </a:rPr>
              <a:t>Synthesis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697479"/>
            <a:ext cx="502920" cy="31750"/>
          </a:xfrm>
          <a:prstGeom prst="rect">
            <a:avLst/>
          </a:prstGeom>
          <a:solidFill>
            <a:srgbClr val="CB7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3063239"/>
            <a:ext cx="1463040" cy="50292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Agentic 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3314699"/>
            <a:ext cx="411480" cy="736092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9560" y="3840479"/>
            <a:ext cx="1463040" cy="50292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MIMIC-IV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grounding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372600" y="4050791"/>
            <a:ext cx="411480" cy="41148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617720"/>
            <a:ext cx="1463040" cy="50292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Trustworthy AI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2222"/>
                </a:solidFill>
                <a:latin typeface="Aptos"/>
              </a:rPr>
              <a:t>+ HITL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372600" y="4050791"/>
            <a:ext cx="411480" cy="818389"/>
          </a:xfrm>
          <a:prstGeom prst="line">
            <a:avLst/>
          </a:prstGeom>
          <a:ln w="1778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84080" y="3584448"/>
            <a:ext cx="149047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72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38100" tIns="12700" bIns="127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Aptos"/>
              </a:rPr>
              <a:t>Intelligent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Aptos"/>
              </a:rPr>
              <a:t>clinical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Aptos"/>
              </a:rPr>
              <a:t>decision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27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ptos"/>
              </a:rPr>
              <a:t>Agentic AI  ·  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73952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ptos"/>
              </a:rPr>
              <a:t>The Superior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941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5555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07127" y="2514600"/>
            <a:ext cx="2377440" cy="38100"/>
          </a:xfrm>
          <a:prstGeom prst="rect">
            <a:avLst/>
          </a:prstGeom>
          <a:solidFill>
            <a:srgbClr val="D72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CCC4C6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0916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CC4C6"/>
                </a:solidFill>
                <a:latin typeface="Aptos"/>
              </a:rPr>
              <a:t>Adeel Gill  ·  adeel@innovahealth.com  ·  The Superior University, Lahore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